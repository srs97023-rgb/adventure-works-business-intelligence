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FAEE8-3124-4CE1-8FC8-C974E35DD8D8}" v="4" dt="2026-09-16T15:42:40.974"/>
    <p1510:client id="{5C1DC485-2ADA-4CA5-A657-F915E74CF90E}" v="8" dt="2026-09-16T09:38:15.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4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E" userId="d3be8a44053af0bc" providerId="LiveId" clId="{A64AEA68-A624-41BD-AA0B-5C5EF4C319EB}"/>
    <pc:docChg chg="undo custSel addSld delSld modSld">
      <pc:chgData name="Mohan E" userId="d3be8a44053af0bc" providerId="LiveId" clId="{A64AEA68-A624-41BD-AA0B-5C5EF4C319EB}" dt="2026-09-17T04:42:43.408" v="40" actId="255"/>
      <pc:docMkLst>
        <pc:docMk/>
      </pc:docMkLst>
      <pc:sldChg chg="delSp modSp mod">
        <pc:chgData name="Mohan E" userId="d3be8a44053af0bc" providerId="LiveId" clId="{A64AEA68-A624-41BD-AA0B-5C5EF4C319EB}" dt="2026-09-17T04:42:43.408" v="40" actId="255"/>
        <pc:sldMkLst>
          <pc:docMk/>
          <pc:sldMk cId="0" sldId="256"/>
        </pc:sldMkLst>
        <pc:spChg chg="mod">
          <ac:chgData name="Mohan E" userId="d3be8a44053af0bc" providerId="LiveId" clId="{A64AEA68-A624-41BD-AA0B-5C5EF4C319EB}" dt="2026-09-17T04:42:43.408" v="40" actId="255"/>
          <ac:spMkLst>
            <pc:docMk/>
            <pc:sldMk cId="0" sldId="256"/>
            <ac:spMk id="5" creationId="{00000000-0000-0000-0000-000000000000}"/>
          </ac:spMkLst>
        </pc:spChg>
        <pc:spChg chg="mod">
          <ac:chgData name="Mohan E" userId="d3be8a44053af0bc" providerId="LiveId" clId="{A64AEA68-A624-41BD-AA0B-5C5EF4C319EB}" dt="2026-09-17T04:42:32.329" v="38" actId="255"/>
          <ac:spMkLst>
            <pc:docMk/>
            <pc:sldMk cId="0" sldId="256"/>
            <ac:spMk id="6" creationId="{00000000-0000-0000-0000-000000000000}"/>
          </ac:spMkLst>
        </pc:spChg>
        <pc:picChg chg="del">
          <ac:chgData name="Mohan E" userId="d3be8a44053af0bc" providerId="LiveId" clId="{A64AEA68-A624-41BD-AA0B-5C5EF4C319EB}" dt="2026-09-17T04:40:16.879" v="13" actId="478"/>
          <ac:picMkLst>
            <pc:docMk/>
            <pc:sldMk cId="0" sldId="256"/>
            <ac:picMk id="2" creationId="{00000000-0000-0000-0000-000000000000}"/>
          </ac:picMkLst>
        </pc:picChg>
        <pc:picChg chg="del">
          <ac:chgData name="Mohan E" userId="d3be8a44053af0bc" providerId="LiveId" clId="{A64AEA68-A624-41BD-AA0B-5C5EF4C319EB}" dt="2026-09-17T04:40:19.375" v="14" actId="478"/>
          <ac:picMkLst>
            <pc:docMk/>
            <pc:sldMk cId="0" sldId="256"/>
            <ac:picMk id="3" creationId="{00000000-0000-0000-0000-000000000000}"/>
          </ac:picMkLst>
        </pc:picChg>
      </pc:sldChg>
      <pc:sldChg chg="delSp mod">
        <pc:chgData name="Mohan E" userId="d3be8a44053af0bc" providerId="LiveId" clId="{A64AEA68-A624-41BD-AA0B-5C5EF4C319EB}" dt="2026-09-17T04:41:07.548" v="16" actId="478"/>
        <pc:sldMkLst>
          <pc:docMk/>
          <pc:sldMk cId="0" sldId="257"/>
        </pc:sldMkLst>
        <pc:picChg chg="del">
          <ac:chgData name="Mohan E" userId="d3be8a44053af0bc" providerId="LiveId" clId="{A64AEA68-A624-41BD-AA0B-5C5EF4C319EB}" dt="2026-09-17T04:41:05.516" v="15" actId="478"/>
          <ac:picMkLst>
            <pc:docMk/>
            <pc:sldMk cId="0" sldId="257"/>
            <ac:picMk id="2" creationId="{00000000-0000-0000-0000-000000000000}"/>
          </ac:picMkLst>
        </pc:picChg>
        <pc:picChg chg="del">
          <ac:chgData name="Mohan E" userId="d3be8a44053af0bc" providerId="LiveId" clId="{A64AEA68-A624-41BD-AA0B-5C5EF4C319EB}" dt="2026-09-17T04:41:07.548" v="16" actId="478"/>
          <ac:picMkLst>
            <pc:docMk/>
            <pc:sldMk cId="0" sldId="257"/>
            <ac:picMk id="6" creationId="{00000000-0000-0000-0000-000000000000}"/>
          </ac:picMkLst>
        </pc:picChg>
      </pc:sldChg>
      <pc:sldChg chg="delSp mod">
        <pc:chgData name="Mohan E" userId="d3be8a44053af0bc" providerId="LiveId" clId="{A64AEA68-A624-41BD-AA0B-5C5EF4C319EB}" dt="2026-09-17T04:41:12.795" v="18" actId="478"/>
        <pc:sldMkLst>
          <pc:docMk/>
          <pc:sldMk cId="0" sldId="258"/>
        </pc:sldMkLst>
        <pc:picChg chg="del">
          <ac:chgData name="Mohan E" userId="d3be8a44053af0bc" providerId="LiveId" clId="{A64AEA68-A624-41BD-AA0B-5C5EF4C319EB}" dt="2026-09-17T04:41:10.802" v="17" actId="478"/>
          <ac:picMkLst>
            <pc:docMk/>
            <pc:sldMk cId="0" sldId="258"/>
            <ac:picMk id="2" creationId="{00000000-0000-0000-0000-000000000000}"/>
          </ac:picMkLst>
        </pc:picChg>
        <pc:picChg chg="del">
          <ac:chgData name="Mohan E" userId="d3be8a44053af0bc" providerId="LiveId" clId="{A64AEA68-A624-41BD-AA0B-5C5EF4C319EB}" dt="2026-09-17T04:41:12.795" v="18" actId="478"/>
          <ac:picMkLst>
            <pc:docMk/>
            <pc:sldMk cId="0" sldId="258"/>
            <ac:picMk id="5" creationId="{00000000-0000-0000-0000-000000000000}"/>
          </ac:picMkLst>
        </pc:picChg>
      </pc:sldChg>
      <pc:sldChg chg="delSp mod">
        <pc:chgData name="Mohan E" userId="d3be8a44053af0bc" providerId="LiveId" clId="{A64AEA68-A624-41BD-AA0B-5C5EF4C319EB}" dt="2026-09-17T04:41:18.142" v="20" actId="478"/>
        <pc:sldMkLst>
          <pc:docMk/>
          <pc:sldMk cId="0" sldId="259"/>
        </pc:sldMkLst>
        <pc:picChg chg="del">
          <ac:chgData name="Mohan E" userId="d3be8a44053af0bc" providerId="LiveId" clId="{A64AEA68-A624-41BD-AA0B-5C5EF4C319EB}" dt="2026-09-17T04:41:16.084" v="19" actId="478"/>
          <ac:picMkLst>
            <pc:docMk/>
            <pc:sldMk cId="0" sldId="259"/>
            <ac:picMk id="2" creationId="{00000000-0000-0000-0000-000000000000}"/>
          </ac:picMkLst>
        </pc:picChg>
        <pc:picChg chg="del">
          <ac:chgData name="Mohan E" userId="d3be8a44053af0bc" providerId="LiveId" clId="{A64AEA68-A624-41BD-AA0B-5C5EF4C319EB}" dt="2026-09-17T04:41:18.142" v="20" actId="478"/>
          <ac:picMkLst>
            <pc:docMk/>
            <pc:sldMk cId="0" sldId="259"/>
            <ac:picMk id="6" creationId="{00000000-0000-0000-0000-000000000000}"/>
          </ac:picMkLst>
        </pc:picChg>
      </pc:sldChg>
      <pc:sldChg chg="delSp mod">
        <pc:chgData name="Mohan E" userId="d3be8a44053af0bc" providerId="LiveId" clId="{A64AEA68-A624-41BD-AA0B-5C5EF4C319EB}" dt="2026-09-17T04:41:24.980" v="22" actId="478"/>
        <pc:sldMkLst>
          <pc:docMk/>
          <pc:sldMk cId="0" sldId="260"/>
        </pc:sldMkLst>
        <pc:picChg chg="del">
          <ac:chgData name="Mohan E" userId="d3be8a44053af0bc" providerId="LiveId" clId="{A64AEA68-A624-41BD-AA0B-5C5EF4C319EB}" dt="2026-09-17T04:41:22.929" v="21" actId="478"/>
          <ac:picMkLst>
            <pc:docMk/>
            <pc:sldMk cId="0" sldId="260"/>
            <ac:picMk id="2" creationId="{00000000-0000-0000-0000-000000000000}"/>
          </ac:picMkLst>
        </pc:picChg>
        <pc:picChg chg="del">
          <ac:chgData name="Mohan E" userId="d3be8a44053af0bc" providerId="LiveId" clId="{A64AEA68-A624-41BD-AA0B-5C5EF4C319EB}" dt="2026-09-17T04:41:24.980" v="22" actId="478"/>
          <ac:picMkLst>
            <pc:docMk/>
            <pc:sldMk cId="0" sldId="260"/>
            <ac:picMk id="6" creationId="{00000000-0000-0000-0000-000000000000}"/>
          </ac:picMkLst>
        </pc:picChg>
      </pc:sldChg>
      <pc:sldChg chg="delSp mod">
        <pc:chgData name="Mohan E" userId="d3be8a44053af0bc" providerId="LiveId" clId="{A64AEA68-A624-41BD-AA0B-5C5EF4C319EB}" dt="2026-09-17T04:41:30.932" v="24" actId="478"/>
        <pc:sldMkLst>
          <pc:docMk/>
          <pc:sldMk cId="0" sldId="261"/>
        </pc:sldMkLst>
        <pc:picChg chg="del">
          <ac:chgData name="Mohan E" userId="d3be8a44053af0bc" providerId="LiveId" clId="{A64AEA68-A624-41BD-AA0B-5C5EF4C319EB}" dt="2026-09-17T04:41:28.761" v="23" actId="478"/>
          <ac:picMkLst>
            <pc:docMk/>
            <pc:sldMk cId="0" sldId="261"/>
            <ac:picMk id="2" creationId="{00000000-0000-0000-0000-000000000000}"/>
          </ac:picMkLst>
        </pc:picChg>
        <pc:picChg chg="del">
          <ac:chgData name="Mohan E" userId="d3be8a44053af0bc" providerId="LiveId" clId="{A64AEA68-A624-41BD-AA0B-5C5EF4C319EB}" dt="2026-09-17T04:41:30.932" v="24" actId="478"/>
          <ac:picMkLst>
            <pc:docMk/>
            <pc:sldMk cId="0" sldId="261"/>
            <ac:picMk id="5" creationId="{00000000-0000-0000-0000-000000000000}"/>
          </ac:picMkLst>
        </pc:picChg>
      </pc:sldChg>
      <pc:sldChg chg="delSp mod">
        <pc:chgData name="Mohan E" userId="d3be8a44053af0bc" providerId="LiveId" clId="{A64AEA68-A624-41BD-AA0B-5C5EF4C319EB}" dt="2026-09-17T04:41:38" v="26" actId="478"/>
        <pc:sldMkLst>
          <pc:docMk/>
          <pc:sldMk cId="0" sldId="262"/>
        </pc:sldMkLst>
        <pc:picChg chg="del">
          <ac:chgData name="Mohan E" userId="d3be8a44053af0bc" providerId="LiveId" clId="{A64AEA68-A624-41BD-AA0B-5C5EF4C319EB}" dt="2026-09-17T04:41:35.989" v="25" actId="478"/>
          <ac:picMkLst>
            <pc:docMk/>
            <pc:sldMk cId="0" sldId="262"/>
            <ac:picMk id="2" creationId="{00000000-0000-0000-0000-000000000000}"/>
          </ac:picMkLst>
        </pc:picChg>
        <pc:picChg chg="del">
          <ac:chgData name="Mohan E" userId="d3be8a44053af0bc" providerId="LiveId" clId="{A64AEA68-A624-41BD-AA0B-5C5EF4C319EB}" dt="2026-09-17T04:41:38" v="26" actId="478"/>
          <ac:picMkLst>
            <pc:docMk/>
            <pc:sldMk cId="0" sldId="262"/>
            <ac:picMk id="6" creationId="{00000000-0000-0000-0000-000000000000}"/>
          </ac:picMkLst>
        </pc:picChg>
      </pc:sldChg>
      <pc:sldChg chg="delSp mod">
        <pc:chgData name="Mohan E" userId="d3be8a44053af0bc" providerId="LiveId" clId="{A64AEA68-A624-41BD-AA0B-5C5EF4C319EB}" dt="2026-09-17T04:41:43.567" v="28" actId="478"/>
        <pc:sldMkLst>
          <pc:docMk/>
          <pc:sldMk cId="0" sldId="263"/>
        </pc:sldMkLst>
        <pc:picChg chg="del">
          <ac:chgData name="Mohan E" userId="d3be8a44053af0bc" providerId="LiveId" clId="{A64AEA68-A624-41BD-AA0B-5C5EF4C319EB}" dt="2026-09-17T04:41:41.377" v="27" actId="478"/>
          <ac:picMkLst>
            <pc:docMk/>
            <pc:sldMk cId="0" sldId="263"/>
            <ac:picMk id="2" creationId="{00000000-0000-0000-0000-000000000000}"/>
          </ac:picMkLst>
        </pc:picChg>
        <pc:picChg chg="del">
          <ac:chgData name="Mohan E" userId="d3be8a44053af0bc" providerId="LiveId" clId="{A64AEA68-A624-41BD-AA0B-5C5EF4C319EB}" dt="2026-09-17T04:41:43.567" v="28" actId="478"/>
          <ac:picMkLst>
            <pc:docMk/>
            <pc:sldMk cId="0" sldId="263"/>
            <ac:picMk id="5" creationId="{00000000-0000-0000-0000-000000000000}"/>
          </ac:picMkLst>
        </pc:picChg>
      </pc:sldChg>
      <pc:sldChg chg="delSp mod">
        <pc:chgData name="Mohan E" userId="d3be8a44053af0bc" providerId="LiveId" clId="{A64AEA68-A624-41BD-AA0B-5C5EF4C319EB}" dt="2026-09-17T04:41:48.980" v="30" actId="478"/>
        <pc:sldMkLst>
          <pc:docMk/>
          <pc:sldMk cId="0" sldId="264"/>
        </pc:sldMkLst>
        <pc:picChg chg="del">
          <ac:chgData name="Mohan E" userId="d3be8a44053af0bc" providerId="LiveId" clId="{A64AEA68-A624-41BD-AA0B-5C5EF4C319EB}" dt="2026-09-17T04:41:47.022" v="29" actId="478"/>
          <ac:picMkLst>
            <pc:docMk/>
            <pc:sldMk cId="0" sldId="264"/>
            <ac:picMk id="2" creationId="{00000000-0000-0000-0000-000000000000}"/>
          </ac:picMkLst>
        </pc:picChg>
        <pc:picChg chg="del">
          <ac:chgData name="Mohan E" userId="d3be8a44053af0bc" providerId="LiveId" clId="{A64AEA68-A624-41BD-AA0B-5C5EF4C319EB}" dt="2026-09-17T04:41:48.980" v="30" actId="478"/>
          <ac:picMkLst>
            <pc:docMk/>
            <pc:sldMk cId="0" sldId="264"/>
            <ac:picMk id="6" creationId="{00000000-0000-0000-0000-000000000000}"/>
          </ac:picMkLst>
        </pc:picChg>
      </pc:sldChg>
      <pc:sldChg chg="delSp mod">
        <pc:chgData name="Mohan E" userId="d3be8a44053af0bc" providerId="LiveId" clId="{A64AEA68-A624-41BD-AA0B-5C5EF4C319EB}" dt="2026-09-17T04:41:55.816" v="32" actId="478"/>
        <pc:sldMkLst>
          <pc:docMk/>
          <pc:sldMk cId="0" sldId="265"/>
        </pc:sldMkLst>
        <pc:picChg chg="del">
          <ac:chgData name="Mohan E" userId="d3be8a44053af0bc" providerId="LiveId" clId="{A64AEA68-A624-41BD-AA0B-5C5EF4C319EB}" dt="2026-09-17T04:41:53.764" v="31" actId="478"/>
          <ac:picMkLst>
            <pc:docMk/>
            <pc:sldMk cId="0" sldId="265"/>
            <ac:picMk id="2" creationId="{00000000-0000-0000-0000-000000000000}"/>
          </ac:picMkLst>
        </pc:picChg>
        <pc:picChg chg="del">
          <ac:chgData name="Mohan E" userId="d3be8a44053af0bc" providerId="LiveId" clId="{A64AEA68-A624-41BD-AA0B-5C5EF4C319EB}" dt="2026-09-17T04:41:55.816" v="32" actId="478"/>
          <ac:picMkLst>
            <pc:docMk/>
            <pc:sldMk cId="0" sldId="265"/>
            <ac:picMk id="5" creationId="{00000000-0000-0000-0000-000000000000}"/>
          </ac:picMkLst>
        </pc:picChg>
      </pc:sldChg>
      <pc:sldChg chg="addSp delSp modSp mod modAnim">
        <pc:chgData name="Mohan E" userId="d3be8a44053af0bc" providerId="LiveId" clId="{A64AEA68-A624-41BD-AA0B-5C5EF4C319EB}" dt="2026-09-17T04:42:02.548" v="34" actId="478"/>
        <pc:sldMkLst>
          <pc:docMk/>
          <pc:sldMk cId="0" sldId="266"/>
        </pc:sldMkLst>
        <pc:picChg chg="del">
          <ac:chgData name="Mohan E" userId="d3be8a44053af0bc" providerId="LiveId" clId="{A64AEA68-A624-41BD-AA0B-5C5EF4C319EB}" dt="2026-09-17T04:41:59.526" v="33" actId="478"/>
          <ac:picMkLst>
            <pc:docMk/>
            <pc:sldMk cId="0" sldId="266"/>
            <ac:picMk id="2" creationId="{00000000-0000-0000-0000-000000000000}"/>
          </ac:picMkLst>
        </pc:picChg>
        <pc:picChg chg="del">
          <ac:chgData name="Mohan E" userId="d3be8a44053af0bc" providerId="LiveId" clId="{A64AEA68-A624-41BD-AA0B-5C5EF4C319EB}" dt="2026-09-17T04:42:02.548" v="34" actId="478"/>
          <ac:picMkLst>
            <pc:docMk/>
            <pc:sldMk cId="0" sldId="266"/>
            <ac:picMk id="6" creationId="{00000000-0000-0000-0000-000000000000}"/>
          </ac:picMkLst>
        </pc:picChg>
        <pc:picChg chg="add mod">
          <ac:chgData name="Mohan E" userId="d3be8a44053af0bc" providerId="LiveId" clId="{A64AEA68-A624-41BD-AA0B-5C5EF4C319EB}" dt="2026-09-16T15:40:59.574" v="1"/>
          <ac:picMkLst>
            <pc:docMk/>
            <pc:sldMk cId="0" sldId="266"/>
            <ac:picMk id="16" creationId="{CF92E514-4D96-6A20-03C4-633A2506B511}"/>
          </ac:picMkLst>
        </pc:picChg>
      </pc:sldChg>
      <pc:sldChg chg="delSp mod">
        <pc:chgData name="Mohan E" userId="d3be8a44053af0bc" providerId="LiveId" clId="{A64AEA68-A624-41BD-AA0B-5C5EF4C319EB}" dt="2026-09-17T04:42:09.673" v="36" actId="478"/>
        <pc:sldMkLst>
          <pc:docMk/>
          <pc:sldMk cId="0" sldId="267"/>
        </pc:sldMkLst>
        <pc:picChg chg="del">
          <ac:chgData name="Mohan E" userId="d3be8a44053af0bc" providerId="LiveId" clId="{A64AEA68-A624-41BD-AA0B-5C5EF4C319EB}" dt="2026-09-17T04:42:07.413" v="35" actId="478"/>
          <ac:picMkLst>
            <pc:docMk/>
            <pc:sldMk cId="0" sldId="267"/>
            <ac:picMk id="2" creationId="{00000000-0000-0000-0000-000000000000}"/>
          </ac:picMkLst>
        </pc:picChg>
        <pc:picChg chg="del">
          <ac:chgData name="Mohan E" userId="d3be8a44053af0bc" providerId="LiveId" clId="{A64AEA68-A624-41BD-AA0B-5C5EF4C319EB}" dt="2026-09-17T04:42:09.673" v="36" actId="478"/>
          <ac:picMkLst>
            <pc:docMk/>
            <pc:sldMk cId="0" sldId="267"/>
            <ac:picMk id="6" creationId="{00000000-0000-0000-0000-000000000000}"/>
          </ac:picMkLst>
        </pc:picChg>
      </pc:sldChg>
      <pc:sldChg chg="addSp modSp new mod modAnim">
        <pc:chgData name="Mohan E" userId="d3be8a44053af0bc" providerId="LiveId" clId="{A64AEA68-A624-41BD-AA0B-5C5EF4C319EB}" dt="2026-09-16T15:43:16.267" v="12" actId="14100"/>
        <pc:sldMkLst>
          <pc:docMk/>
          <pc:sldMk cId="201903191" sldId="268"/>
        </pc:sldMkLst>
        <pc:picChg chg="add mod">
          <ac:chgData name="Mohan E" userId="d3be8a44053af0bc" providerId="LiveId" clId="{A64AEA68-A624-41BD-AA0B-5C5EF4C319EB}" dt="2026-09-16T15:43:16.267" v="12" actId="14100"/>
          <ac:picMkLst>
            <pc:docMk/>
            <pc:sldMk cId="201903191" sldId="268"/>
            <ac:picMk id="2" creationId="{92D201C5-8295-1C10-F073-3366C3667B06}"/>
          </ac:picMkLst>
        </pc:picChg>
      </pc:sldChg>
      <pc:sldChg chg="new del">
        <pc:chgData name="Mohan E" userId="d3be8a44053af0bc" providerId="LiveId" clId="{A64AEA68-A624-41BD-AA0B-5C5EF4C319EB}" dt="2026-09-16T15:41:24.179" v="3" actId="680"/>
        <pc:sldMkLst>
          <pc:docMk/>
          <pc:sldMk cId="1024029626"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1238806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1243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42450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1331757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5215084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89894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1497019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4226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6956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778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10205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0802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405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975178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2266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398313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48851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24206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15196516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7937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27855620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31231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498896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55318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155914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67680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018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5230883"/>
      </p:ext>
    </p:extLst>
  </p:cSld>
  <p:clrMap bg1="dk1" tx1="lt1" bg2="dk2" tx2="lt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1.png"/><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1.png"/><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6.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5.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2630"/>
        </a:solidFill>
        <a:effectLst/>
      </p:bgPr>
    </p:bg>
    <p:spTree>
      <p:nvGrpSpPr>
        <p:cNvPr id="1" name=""/>
        <p:cNvGrpSpPr/>
        <p:nvPr/>
      </p:nvGrpSpPr>
      <p:grpSpPr>
        <a:xfrm>
          <a:off x="0" y="0"/>
          <a:ext cx="0" cy="0"/>
          <a:chOff x="0" y="0"/>
          <a:chExt cx="0" cy="0"/>
        </a:xfrm>
      </p:grpSpPr>
      <p:sp>
        <p:nvSpPr>
          <p:cNvPr id="4" name="TextBox 3"/>
          <p:cNvSpPr txBox="1"/>
          <p:nvPr/>
        </p:nvSpPr>
        <p:spPr>
          <a:xfrm>
            <a:off x="566928" y="2423160"/>
            <a:ext cx="11055096" cy="777240"/>
          </a:xfrm>
          <a:prstGeom prst="rect">
            <a:avLst/>
          </a:prstGeom>
          <a:noFill/>
        </p:spPr>
        <p:txBody>
          <a:bodyPr wrap="square" lIns="0" tIns="0" rIns="0" bIns="0" anchor="t">
            <a:spAutoFit/>
          </a:bodyPr>
          <a:lstStyle/>
          <a:p>
            <a:pPr algn="ctr">
              <a:lnSpc>
                <a:spcPct val="115000"/>
              </a:lnSpc>
            </a:pPr>
            <a:r>
              <a:rPr sz="3800" b="1" i="0" u="none">
                <a:solidFill>
                  <a:srgbClr val="FFFFFF"/>
                </a:solidFill>
                <a:latin typeface="Arial"/>
              </a:rPr>
              <a:t>Adventure Works Manufacturing &amp; Sales</a:t>
            </a:r>
          </a:p>
        </p:txBody>
      </p:sp>
      <p:sp>
        <p:nvSpPr>
          <p:cNvPr id="5" name="TextBox 4"/>
          <p:cNvSpPr txBox="1"/>
          <p:nvPr/>
        </p:nvSpPr>
        <p:spPr>
          <a:xfrm>
            <a:off x="2011680" y="3657600"/>
            <a:ext cx="8165592" cy="821763"/>
          </a:xfrm>
          <a:prstGeom prst="rect">
            <a:avLst/>
          </a:prstGeom>
          <a:noFill/>
        </p:spPr>
        <p:txBody>
          <a:bodyPr wrap="square" lIns="0" tIns="0" rIns="0" bIns="0" anchor="t">
            <a:spAutoFit/>
          </a:bodyPr>
          <a:lstStyle/>
          <a:p>
            <a:pPr algn="ctr">
              <a:lnSpc>
                <a:spcPct val="140000"/>
              </a:lnSpc>
            </a:pPr>
            <a:r>
              <a:rPr sz="2000" b="0" i="0" u="none" dirty="0">
                <a:solidFill>
                  <a:srgbClr val="B9C4CE"/>
                </a:solidFill>
                <a:latin typeface="Calibri"/>
              </a:rPr>
              <a:t>An Insight-Driven End-to-End Performance Analysis across Excel, SQL, Power BI, and Tableau</a:t>
            </a:r>
            <a:r>
              <a:rPr sz="1600" b="0" i="0" u="none" dirty="0">
                <a:solidFill>
                  <a:srgbClr val="B9C4CE"/>
                </a:solidFill>
                <a:latin typeface="Calibri"/>
              </a:rPr>
              <a:t>.</a:t>
            </a:r>
          </a:p>
        </p:txBody>
      </p:sp>
      <p:sp>
        <p:nvSpPr>
          <p:cNvPr id="6" name="TextBox 5"/>
          <p:cNvSpPr txBox="1"/>
          <p:nvPr/>
        </p:nvSpPr>
        <p:spPr>
          <a:xfrm>
            <a:off x="3803904" y="4572000"/>
            <a:ext cx="4572000" cy="356251"/>
          </a:xfrm>
          <a:prstGeom prst="rect">
            <a:avLst/>
          </a:prstGeom>
          <a:noFill/>
        </p:spPr>
        <p:txBody>
          <a:bodyPr wrap="square" lIns="0" tIns="0" rIns="0" bIns="0" anchor="t">
            <a:spAutoFit/>
          </a:bodyPr>
          <a:lstStyle/>
          <a:p>
            <a:pPr algn="ctr">
              <a:lnSpc>
                <a:spcPct val="125000"/>
              </a:lnSpc>
            </a:pPr>
            <a:r>
              <a:rPr sz="2000" b="0" i="0" u="none" dirty="0">
                <a:solidFill>
                  <a:srgbClr val="E3A14F"/>
                </a:solidFill>
                <a:latin typeface="Calibri"/>
              </a:rPr>
              <a:t>Project Lead &amp; Analytics Presentation</a:t>
            </a:r>
          </a:p>
        </p:txBody>
      </p:sp>
      <p:sp>
        <p:nvSpPr>
          <p:cNvPr id="7" name="Rectangle 6"/>
          <p:cNvSpPr/>
          <p:nvPr/>
        </p:nvSpPr>
        <p:spPr>
          <a:xfrm>
            <a:off x="5367528" y="3401568"/>
            <a:ext cx="1463040" cy="45720"/>
          </a:xfrm>
          <a:prstGeom prst="rect">
            <a:avLst/>
          </a:prstGeom>
          <a:solidFill>
            <a:srgbClr val="E3A1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5" name="Rectangle 14"/>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2211577"/>
            <a:ext cx="5330952" cy="4126484"/>
          </a:xfrm>
          <a:prstGeom prst="rect">
            <a:avLst/>
          </a:prstGeom>
        </p:spPr>
      </p:pic>
      <p:sp>
        <p:nvSpPr>
          <p:cNvPr id="16" name="Round Same Side Corner Rectangle 15"/>
          <p:cNvSpPr/>
          <p:nvPr/>
        </p:nvSpPr>
        <p:spPr>
          <a:xfrm>
            <a:off x="566928" y="2211577"/>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6291072" y="2211577"/>
            <a:ext cx="5330952" cy="4126484"/>
          </a:xfrm>
          <a:prstGeom prst="rect">
            <a:avLst/>
          </a:prstGeom>
        </p:spPr>
      </p:pic>
      <p:sp>
        <p:nvSpPr>
          <p:cNvPr id="17" name="Round Same Side Corner Rectangle 16"/>
          <p:cNvSpPr/>
          <p:nvPr/>
        </p:nvSpPr>
        <p:spPr>
          <a:xfrm>
            <a:off x="6291072" y="2211577"/>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Excel: Exploratory Audit &amp; Category Concentration</a:t>
            </a:r>
          </a:p>
        </p:txBody>
      </p:sp>
      <p:sp>
        <p:nvSpPr>
          <p:cNvPr id="7" name="TextBox 6"/>
          <p:cNvSpPr txBox="1"/>
          <p:nvPr/>
        </p:nvSpPr>
        <p:spPr>
          <a:xfrm>
            <a:off x="969264" y="2385313"/>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Initial Discovery &amp; Scope</a:t>
            </a:r>
          </a:p>
        </p:txBody>
      </p:sp>
      <p:sp>
        <p:nvSpPr>
          <p:cNvPr id="8" name="TextBox 7"/>
          <p:cNvSpPr txBox="1"/>
          <p:nvPr/>
        </p:nvSpPr>
        <p:spPr>
          <a:xfrm>
            <a:off x="969264" y="3253993"/>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Through initial pivot tables and baseline summaries, we audited raw multi-year transactional logs ($29.36M total revenue across 60,398 order lines) across regional portfolios.</a:t>
            </a:r>
          </a:p>
        </p:txBody>
      </p:sp>
      <p:sp>
        <p:nvSpPr>
          <p:cNvPr id="9" name="TextBox 8"/>
          <p:cNvSpPr txBox="1"/>
          <p:nvPr/>
        </p:nvSpPr>
        <p:spPr>
          <a:xfrm>
            <a:off x="969264" y="4538217"/>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Data profiling immediately highlighted seasonal swings and a heavy revenue dependency on a single product category.</a:t>
            </a:r>
          </a:p>
        </p:txBody>
      </p:sp>
      <p:sp>
        <p:nvSpPr>
          <p:cNvPr id="10" name="TextBox 9"/>
          <p:cNvSpPr txBox="1"/>
          <p:nvPr/>
        </p:nvSpPr>
        <p:spPr>
          <a:xfrm>
            <a:off x="6693408" y="2385313"/>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Key Baseline Findings</a:t>
            </a:r>
          </a:p>
        </p:txBody>
      </p:sp>
      <p:sp>
        <p:nvSpPr>
          <p:cNvPr id="11" name="TextBox 10"/>
          <p:cNvSpPr txBox="1"/>
          <p:nvPr/>
        </p:nvSpPr>
        <p:spPr>
          <a:xfrm>
            <a:off x="6693408" y="3253993"/>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1. Seasonal Distribution:</a:t>
            </a:r>
            <a:r>
              <a:rPr sz="1400" b="0" i="0" u="none">
                <a:solidFill>
                  <a:srgbClr val="3E4C59"/>
                </a:solidFill>
                <a:latin typeface="Calibri"/>
              </a:rPr>
              <a:t> Q4 delivered the strongest quarter at 31% of annual revenue, versus just 19% in Q1.</a:t>
            </a:r>
          </a:p>
        </p:txBody>
      </p:sp>
      <p:sp>
        <p:nvSpPr>
          <p:cNvPr id="12" name="TextBox 11"/>
          <p:cNvSpPr txBox="1"/>
          <p:nvPr/>
        </p:nvSpPr>
        <p:spPr>
          <a:xfrm>
            <a:off x="6693408" y="4285741"/>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2. Category Concentration:</a:t>
            </a:r>
            <a:r>
              <a:rPr sz="1400" b="0" i="0" u="none">
                <a:solidFill>
                  <a:srgbClr val="3E4C59"/>
                </a:solidFill>
                <a:latin typeface="Calibri"/>
              </a:rPr>
              <a:t> Bikes generated 96.5% of total revenue from only 25% of order lines — Accessories drove 60% of volume but just 2.4% of revenue.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7" name="Rectangle 16"/>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1627632"/>
            <a:ext cx="4983480" cy="4786884"/>
          </a:xfrm>
          <a:prstGeom prst="rect">
            <a:avLst/>
          </a:prstGeom>
        </p:spPr>
      </p:pic>
      <p:sp>
        <p:nvSpPr>
          <p:cNvPr id="18" name="Round Same Side Corner Rectangle 17"/>
          <p:cNvSpPr/>
          <p:nvPr/>
        </p:nvSpPr>
        <p:spPr>
          <a:xfrm>
            <a:off x="566928" y="1627632"/>
            <a:ext cx="4983480" cy="237744"/>
          </a:xfrm>
          <a:prstGeom prst="round2SameRect">
            <a:avLst>
              <a:gd name="adj1" fmla="val 5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Excel: Regional Margin Signals &amp; Cost Structure</a:t>
            </a:r>
          </a:p>
        </p:txBody>
      </p:sp>
      <p:sp>
        <p:nvSpPr>
          <p:cNvPr id="7" name="TextBox 6"/>
          <p:cNvSpPr txBox="1"/>
          <p:nvPr/>
        </p:nvSpPr>
        <p:spPr>
          <a:xfrm>
            <a:off x="1298448" y="2176272"/>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Margin Erosion:</a:t>
            </a:r>
            <a:r>
              <a:rPr sz="1350" b="0" i="0" u="none">
                <a:solidFill>
                  <a:srgbClr val="3E4C59"/>
                </a:solidFill>
                <a:latin typeface="Calibri"/>
              </a:rPr>
              <a:t> Your two highest-revenue regions, Australia and Southwest, post the lowest net margins in the portfolio (40.7% and 41.5%) versus 43–45% in the smallest markets.</a:t>
            </a:r>
          </a:p>
        </p:txBody>
      </p:sp>
      <p:sp>
        <p:nvSpPr>
          <p:cNvPr id="8" name="TextBox 7"/>
          <p:cNvSpPr txBox="1"/>
          <p:nvPr/>
        </p:nvSpPr>
        <p:spPr>
          <a:xfrm>
            <a:off x="1298448" y="3534156"/>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Cost Structure Check:</a:t>
            </a:r>
            <a:r>
              <a:rPr sz="1350" b="0" i="0" u="none">
                <a:solidFill>
                  <a:srgbClr val="3E4C59"/>
                </a:solidFill>
                <a:latin typeface="Calibri"/>
              </a:rPr>
              <a:t> Freight sits at a flat 2.5% of sales in every region, ruling out shipping as the cause — the margin gap traces back to product mix instead.</a:t>
            </a:r>
          </a:p>
        </p:txBody>
      </p:sp>
      <p:sp>
        <p:nvSpPr>
          <p:cNvPr id="9" name="TextBox 8"/>
          <p:cNvSpPr txBox="1"/>
          <p:nvPr/>
        </p:nvSpPr>
        <p:spPr>
          <a:xfrm>
            <a:off x="1298448" y="4892040"/>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Analytical Bridge:</a:t>
            </a:r>
            <a:r>
              <a:rPr sz="1350" b="0" i="0" u="none">
                <a:solidFill>
                  <a:srgbClr val="3E4C59"/>
                </a:solidFill>
                <a:latin typeface="Calibri"/>
              </a:rPr>
              <a:t> These preliminary variances exposed the limits of spreadsheet modeling and set the stage for deeper relational SQL auditing.</a:t>
            </a:r>
          </a:p>
        </p:txBody>
      </p:sp>
      <p:pic>
        <p:nvPicPr>
          <p:cNvPr id="10" name="Picture 9" descr="image.png"/>
          <p:cNvPicPr>
            <a:picLocks noChangeAspect="1"/>
          </p:cNvPicPr>
          <p:nvPr/>
        </p:nvPicPr>
        <p:blipFill>
          <a:blip r:embed="rId3"/>
          <a:stretch>
            <a:fillRect/>
          </a:stretch>
        </p:blipFill>
        <p:spPr>
          <a:xfrm>
            <a:off x="932688" y="2221991"/>
            <a:ext cx="219075" cy="200025"/>
          </a:xfrm>
          <a:prstGeom prst="rect">
            <a:avLst/>
          </a:prstGeom>
        </p:spPr>
      </p:pic>
      <p:pic>
        <p:nvPicPr>
          <p:cNvPr id="11" name="Picture 10" descr="image.png"/>
          <p:cNvPicPr>
            <a:picLocks noChangeAspect="1"/>
          </p:cNvPicPr>
          <p:nvPr/>
        </p:nvPicPr>
        <p:blipFill>
          <a:blip r:embed="rId4"/>
          <a:stretch>
            <a:fillRect/>
          </a:stretch>
        </p:blipFill>
        <p:spPr>
          <a:xfrm>
            <a:off x="932688" y="3579875"/>
            <a:ext cx="219075" cy="200025"/>
          </a:xfrm>
          <a:prstGeom prst="rect">
            <a:avLst/>
          </a:prstGeom>
        </p:spPr>
      </p:pic>
      <p:pic>
        <p:nvPicPr>
          <p:cNvPr id="12" name="Picture 11" descr="image.png"/>
          <p:cNvPicPr>
            <a:picLocks noChangeAspect="1"/>
          </p:cNvPicPr>
          <p:nvPr/>
        </p:nvPicPr>
        <p:blipFill>
          <a:blip r:embed="rId5"/>
          <a:stretch>
            <a:fillRect/>
          </a:stretch>
        </p:blipFill>
        <p:spPr>
          <a:xfrm>
            <a:off x="932688" y="4937759"/>
            <a:ext cx="190500" cy="200025"/>
          </a:xfrm>
          <a:prstGeom prst="rect">
            <a:avLst/>
          </a:prstGeom>
        </p:spPr>
      </p:pic>
      <p:sp>
        <p:nvSpPr>
          <p:cNvPr id="19" name="Rounded Rectangle 18"/>
          <p:cNvSpPr/>
          <p:nvPr/>
        </p:nvSpPr>
        <p:spPr>
          <a:xfrm>
            <a:off x="5687568" y="1627631"/>
            <a:ext cx="5934456" cy="4081062"/>
          </a:xfrm>
          <a:prstGeom prst="roundRect">
            <a:avLst>
              <a:gd name="adj" fmla="val 35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a:extLst>
              <a:ext uri="{FF2B5EF4-FFF2-40B4-BE49-F238E27FC236}">
                <a16:creationId xmlns:a16="http://schemas.microsoft.com/office/drawing/2014/main" id="{AF6961DD-753E-3C88-2AA2-F15E3F307622}"/>
              </a:ext>
            </a:extLst>
          </p:cNvPr>
          <p:cNvPicPr>
            <a:picLocks noChangeAspect="1"/>
          </p:cNvPicPr>
          <p:nvPr/>
        </p:nvPicPr>
        <p:blipFill>
          <a:blip r:embed="rId6"/>
          <a:stretch>
            <a:fillRect/>
          </a:stretch>
        </p:blipFill>
        <p:spPr>
          <a:xfrm>
            <a:off x="5797296" y="1737360"/>
            <a:ext cx="5715000" cy="38616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2" name="Rectangle 11"/>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1783080"/>
            <a:ext cx="11045952" cy="3806952"/>
          </a:xfrm>
          <a:prstGeom prst="rect">
            <a:avLst/>
          </a:prstGeom>
        </p:spPr>
      </p:pic>
      <p:sp>
        <p:nvSpPr>
          <p:cNvPr id="13" name="Round Same Side Corner Rectangle 12"/>
          <p:cNvSpPr/>
          <p:nvPr/>
        </p:nvSpPr>
        <p:spPr>
          <a:xfrm>
            <a:off x="566928" y="1783080"/>
            <a:ext cx="11045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005840" y="4309872"/>
            <a:ext cx="10168128" cy="1097280"/>
          </a:xfrm>
          <a:prstGeom prst="rect">
            <a:avLst/>
          </a:prstGeom>
        </p:spPr>
      </p:pic>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Excel: Synthesis &amp; Transition to SQL</a:t>
            </a:r>
          </a:p>
        </p:txBody>
      </p:sp>
      <p:sp>
        <p:nvSpPr>
          <p:cNvPr id="7" name="TextBox 6"/>
          <p:cNvSpPr txBox="1"/>
          <p:nvPr/>
        </p:nvSpPr>
        <p:spPr>
          <a:xfrm>
            <a:off x="1005840" y="1938528"/>
            <a:ext cx="10058400" cy="365760"/>
          </a:xfrm>
          <a:prstGeom prst="rect">
            <a:avLst/>
          </a:prstGeom>
          <a:noFill/>
        </p:spPr>
        <p:txBody>
          <a:bodyPr wrap="square" lIns="0" tIns="0" rIns="0" bIns="0" anchor="t">
            <a:spAutoFit/>
          </a:bodyPr>
          <a:lstStyle/>
          <a:p>
            <a:pPr algn="l">
              <a:lnSpc>
                <a:spcPct val="115000"/>
              </a:lnSpc>
            </a:pPr>
            <a:r>
              <a:rPr sz="1900" b="1" i="0" u="none">
                <a:solidFill>
                  <a:srgbClr val="FFFFFF"/>
                </a:solidFill>
                <a:latin typeface="Arial"/>
              </a:rPr>
              <a:t>The Excel Analytical Takeaway</a:t>
            </a:r>
          </a:p>
        </p:txBody>
      </p:sp>
      <p:sp>
        <p:nvSpPr>
          <p:cNvPr id="8" name="TextBox 7"/>
          <p:cNvSpPr txBox="1"/>
          <p:nvPr/>
        </p:nvSpPr>
        <p:spPr>
          <a:xfrm>
            <a:off x="1005840" y="2770632"/>
            <a:ext cx="10149840" cy="1402080"/>
          </a:xfrm>
          <a:prstGeom prst="rect">
            <a:avLst/>
          </a:prstGeom>
          <a:noFill/>
        </p:spPr>
        <p:txBody>
          <a:bodyPr wrap="square" lIns="0" tIns="0" rIns="0" bIns="0" anchor="t">
            <a:spAutoFit/>
          </a:bodyPr>
          <a:lstStyle/>
          <a:p>
            <a:pPr algn="l">
              <a:lnSpc>
                <a:spcPct val="150000"/>
              </a:lnSpc>
            </a:pPr>
            <a:r>
              <a:rPr sz="1600" b="0" i="0" u="none">
                <a:solidFill>
                  <a:srgbClr val="3E4C59"/>
                </a:solidFill>
                <a:latin typeface="Calibri"/>
              </a:rPr>
              <a:t>Our preliminary Excel phase proved that headline revenue figures mask real concentration risk: one category and a handful of SKUs drive almost all profit, while freight costs stay flat regardless of region. Pivot tables could show where these patterns sit, but not why they persist across millions of transaction-level rows.</a:t>
            </a:r>
            <a:r>
              <a:rPr sz="1600" b="0" i="1" u="none">
                <a:solidFill>
                  <a:srgbClr val="3E4C59"/>
                </a:solidFill>
                <a:latin typeface="Calibri"/>
              </a:rPr>
              <a:t/>
            </a:r>
            <a:r>
              <a:rPr sz="1600" b="0" i="0" u="none">
                <a:solidFill>
                  <a:srgbClr val="3E4C59"/>
                </a:solidFill>
                <a:latin typeface="Calibri"/>
              </a:rPr>
              <a:t/>
            </a:r>
          </a:p>
        </p:txBody>
      </p:sp>
      <p:sp>
        <p:nvSpPr>
          <p:cNvPr id="9" name="TextBox 8"/>
          <p:cNvSpPr txBox="1"/>
          <p:nvPr/>
        </p:nvSpPr>
        <p:spPr>
          <a:xfrm>
            <a:off x="1389888" y="4657344"/>
            <a:ext cx="9418320" cy="457200"/>
          </a:xfrm>
          <a:prstGeom prst="rect">
            <a:avLst/>
          </a:prstGeom>
          <a:noFill/>
        </p:spPr>
        <p:txBody>
          <a:bodyPr wrap="square" lIns="0" tIns="0" rIns="0" bIns="0" anchor="t">
            <a:spAutoFit/>
          </a:bodyPr>
          <a:lstStyle/>
          <a:p>
            <a:pPr algn="l">
              <a:lnSpc>
                <a:spcPct val="135000"/>
              </a:lnSpc>
            </a:pPr>
            <a:r>
              <a:rPr sz="1400" b="0" i="0" u="none">
                <a:solidFill>
                  <a:srgbClr val="C2751A"/>
                </a:solidFill>
                <a:latin typeface="Calibri"/>
              </a:rPr>
              <a:t>Strategic Transition: Consolidate two raw fact tables and engineer a clean, query-ready dataset in SQL to support deeper, repeatable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5" name="Rectangle 14"/>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2337816"/>
            <a:ext cx="5330952" cy="4126484"/>
          </a:xfrm>
          <a:prstGeom prst="rect">
            <a:avLst/>
          </a:prstGeom>
        </p:spPr>
      </p:pic>
      <p:sp>
        <p:nvSpPr>
          <p:cNvPr id="16" name="Round Same Side Corner Rectangle 15"/>
          <p:cNvSpPr/>
          <p:nvPr/>
        </p:nvSpPr>
        <p:spPr>
          <a:xfrm>
            <a:off x="566928" y="2337816"/>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6291072" y="2337816"/>
            <a:ext cx="5330952" cy="4126484"/>
          </a:xfrm>
          <a:prstGeom prst="rect">
            <a:avLst/>
          </a:prstGeom>
        </p:spPr>
      </p:pic>
      <p:sp>
        <p:nvSpPr>
          <p:cNvPr id="17" name="Round Same Side Corner Rectangle 16"/>
          <p:cNvSpPr/>
          <p:nvPr/>
        </p:nvSpPr>
        <p:spPr>
          <a:xfrm>
            <a:off x="6291072" y="2337816"/>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SQL: Data Consolidation &amp; Fiscal Calendar Engineering</a:t>
            </a:r>
          </a:p>
        </p:txBody>
      </p:sp>
      <p:sp>
        <p:nvSpPr>
          <p:cNvPr id="7" name="TextBox 6"/>
          <p:cNvSpPr txBox="1"/>
          <p:nvPr/>
        </p:nvSpPr>
        <p:spPr>
          <a:xfrm>
            <a:off x="969264" y="2511552"/>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Schema Consolidation &amp; Enrichment</a:t>
            </a:r>
          </a:p>
        </p:txBody>
      </p:sp>
      <p:sp>
        <p:nvSpPr>
          <p:cNvPr id="8" name="TextBox 7"/>
          <p:cNvSpPr txBox="1"/>
          <p:nvPr/>
        </p:nvSpPr>
        <p:spPr>
          <a:xfrm>
            <a:off x="969264" y="3380232"/>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We combined two raw fact tables, FactInternetSales and Fact_Internet_Sales_New, into a single Fact_Sales_Combined table using UNION ALL.</a:t>
            </a:r>
          </a:p>
        </p:txBody>
      </p:sp>
      <p:sp>
        <p:nvSpPr>
          <p:cNvPr id="9" name="TextBox 8"/>
          <p:cNvSpPr txBox="1"/>
          <p:nvPr/>
        </p:nvSpPr>
        <p:spPr>
          <a:xfrm>
            <a:off x="969264" y="4411980"/>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The combined table was then enriched with product and customer names through left joins to the product and customer dimension tables.</a:t>
            </a:r>
          </a:p>
        </p:txBody>
      </p:sp>
      <p:sp>
        <p:nvSpPr>
          <p:cNvPr id="10" name="TextBox 9"/>
          <p:cNvSpPr txBox="1"/>
          <p:nvPr/>
        </p:nvSpPr>
        <p:spPr>
          <a:xfrm>
            <a:off x="6693408" y="2511552"/>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Building a Fiscal Calendar</a:t>
            </a:r>
          </a:p>
        </p:txBody>
      </p:sp>
      <p:sp>
        <p:nvSpPr>
          <p:cNvPr id="11" name="TextBox 10"/>
          <p:cNvSpPr txBox="1"/>
          <p:nvPr/>
        </p:nvSpPr>
        <p:spPr>
          <a:xfrm>
            <a:off x="6693408" y="3380232"/>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1. Date Engineering:</a:t>
            </a:r>
            <a:r>
              <a:rPr sz="1400" b="0" i="0" u="none">
                <a:solidFill>
                  <a:srgbClr val="3E4C59"/>
                </a:solidFill>
                <a:latin typeface="Calibri"/>
              </a:rPr>
              <a:t> Derived Year, Month, Quarter, Weekday, and a full financial calendar (Financial Month &amp; Quarter) directly from the raw OrderDateKey field.</a:t>
            </a:r>
          </a:p>
        </p:txBody>
      </p:sp>
      <p:sp>
        <p:nvSpPr>
          <p:cNvPr id="12" name="TextBox 11"/>
          <p:cNvSpPr txBox="1"/>
          <p:nvPr/>
        </p:nvSpPr>
        <p:spPr>
          <a:xfrm>
            <a:off x="6693408" y="4664456"/>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2. Query Validation:</a:t>
            </a:r>
            <a:r>
              <a:rPr sz="1400" b="0" i="0" u="none">
                <a:solidFill>
                  <a:srgbClr val="3E4C59"/>
                </a:solidFill>
                <a:latin typeface="Calibri"/>
              </a:rPr>
              <a:t> Every derived field was checked against a 10-row sample before being applied across the full combined table.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7" name="Rectangle 16"/>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1627632"/>
            <a:ext cx="4983480" cy="4543425"/>
          </a:xfrm>
          <a:prstGeom prst="rect">
            <a:avLst/>
          </a:prstGeom>
        </p:spPr>
      </p:pic>
      <p:sp>
        <p:nvSpPr>
          <p:cNvPr id="18" name="Round Same Side Corner Rectangle 17"/>
          <p:cNvSpPr/>
          <p:nvPr/>
        </p:nvSpPr>
        <p:spPr>
          <a:xfrm>
            <a:off x="566928" y="1627632"/>
            <a:ext cx="4983480" cy="237744"/>
          </a:xfrm>
          <a:prstGeom prst="round2SameRect">
            <a:avLst>
              <a:gd name="adj1" fmla="val 5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SQL: Revenue Engineering &amp; Profitability Modeling</a:t>
            </a:r>
          </a:p>
        </p:txBody>
      </p:sp>
      <p:sp>
        <p:nvSpPr>
          <p:cNvPr id="7" name="TextBox 6"/>
          <p:cNvSpPr txBox="1"/>
          <p:nvPr/>
        </p:nvSpPr>
        <p:spPr>
          <a:xfrm>
            <a:off x="1298448" y="2176272"/>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Revenue Recalculation:</a:t>
            </a:r>
            <a:r>
              <a:rPr sz="1350" b="0" i="0" u="none">
                <a:solidFill>
                  <a:srgbClr val="3E4C59"/>
                </a:solidFill>
                <a:latin typeface="Calibri"/>
              </a:rPr>
              <a:t> Rebuilt Calculated_Sales_Amount from OrderQuantity × UnitPrice net of discounts, and validated it against the original SalesAmount field.</a:t>
            </a:r>
          </a:p>
        </p:txBody>
      </p:sp>
      <p:sp>
        <p:nvSpPr>
          <p:cNvPr id="8" name="TextBox 7"/>
          <p:cNvSpPr txBox="1"/>
          <p:nvPr/>
        </p:nvSpPr>
        <p:spPr>
          <a:xfrm>
            <a:off x="1298448" y="3534156"/>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COGS Modeling:</a:t>
            </a:r>
            <a:r>
              <a:rPr sz="1350" b="0" i="0" u="none">
                <a:solidFill>
                  <a:srgbClr val="3E4C59"/>
                </a:solidFill>
                <a:latin typeface="Calibri"/>
              </a:rPr>
              <a:t> Engineered a permanent ProductionCost column (ProductStandardCost × OrderQuantity) to model true cost of goods sold at the line-item level.</a:t>
            </a:r>
          </a:p>
        </p:txBody>
      </p:sp>
      <p:sp>
        <p:nvSpPr>
          <p:cNvPr id="9" name="TextBox 8"/>
          <p:cNvSpPr txBox="1"/>
          <p:nvPr/>
        </p:nvSpPr>
        <p:spPr>
          <a:xfrm>
            <a:off x="1298448" y="4892040"/>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Clean Data Foundation:</a:t>
            </a:r>
            <a:r>
              <a:rPr sz="1350" b="0" i="0" u="none">
                <a:solidFill>
                  <a:srgbClr val="3E4C59"/>
                </a:solidFill>
                <a:latin typeface="Calibri"/>
              </a:rPr>
              <a:t> Structured, validated relational data was now ready for interactive business intelligence modeling.</a:t>
            </a:r>
          </a:p>
        </p:txBody>
      </p:sp>
      <p:pic>
        <p:nvPicPr>
          <p:cNvPr id="10" name="Picture 9" descr="image.png"/>
          <p:cNvPicPr>
            <a:picLocks noChangeAspect="1"/>
          </p:cNvPicPr>
          <p:nvPr/>
        </p:nvPicPr>
        <p:blipFill>
          <a:blip r:embed="rId3"/>
          <a:stretch>
            <a:fillRect/>
          </a:stretch>
        </p:blipFill>
        <p:spPr>
          <a:xfrm>
            <a:off x="932688" y="2221991"/>
            <a:ext cx="190500" cy="200025"/>
          </a:xfrm>
          <a:prstGeom prst="rect">
            <a:avLst/>
          </a:prstGeom>
        </p:spPr>
      </p:pic>
      <p:pic>
        <p:nvPicPr>
          <p:cNvPr id="11" name="Picture 10" descr="image.png"/>
          <p:cNvPicPr>
            <a:picLocks noChangeAspect="1"/>
          </p:cNvPicPr>
          <p:nvPr/>
        </p:nvPicPr>
        <p:blipFill>
          <a:blip r:embed="rId4"/>
          <a:stretch>
            <a:fillRect/>
          </a:stretch>
        </p:blipFill>
        <p:spPr>
          <a:xfrm>
            <a:off x="932688" y="3579875"/>
            <a:ext cx="238125" cy="200025"/>
          </a:xfrm>
          <a:prstGeom prst="rect">
            <a:avLst/>
          </a:prstGeom>
        </p:spPr>
      </p:pic>
      <p:pic>
        <p:nvPicPr>
          <p:cNvPr id="12" name="Picture 11" descr="image.png"/>
          <p:cNvPicPr>
            <a:picLocks noChangeAspect="1"/>
          </p:cNvPicPr>
          <p:nvPr/>
        </p:nvPicPr>
        <p:blipFill>
          <a:blip r:embed="rId5"/>
          <a:stretch>
            <a:fillRect/>
          </a:stretch>
        </p:blipFill>
        <p:spPr>
          <a:xfrm>
            <a:off x="932688" y="4937759"/>
            <a:ext cx="171450" cy="200025"/>
          </a:xfrm>
          <a:prstGeom prst="rect">
            <a:avLst/>
          </a:prstGeom>
        </p:spPr>
      </p:pic>
      <p:sp>
        <p:nvSpPr>
          <p:cNvPr id="19" name="Rounded Rectangle 18"/>
          <p:cNvSpPr/>
          <p:nvPr/>
        </p:nvSpPr>
        <p:spPr>
          <a:xfrm>
            <a:off x="5544693" y="1627631"/>
            <a:ext cx="6077331" cy="3962780"/>
          </a:xfrm>
          <a:prstGeom prst="roundRect">
            <a:avLst>
              <a:gd name="adj" fmla="val 35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a:extLst>
              <a:ext uri="{FF2B5EF4-FFF2-40B4-BE49-F238E27FC236}">
                <a16:creationId xmlns:a16="http://schemas.microsoft.com/office/drawing/2014/main" id="{DB8F48BC-9CDE-CD37-9A59-73E0E4482053}"/>
              </a:ext>
            </a:extLst>
          </p:cNvPr>
          <p:cNvPicPr>
            <a:picLocks noChangeAspect="1"/>
          </p:cNvPicPr>
          <p:nvPr/>
        </p:nvPicPr>
        <p:blipFill>
          <a:blip r:embed="rId6"/>
          <a:stretch>
            <a:fillRect/>
          </a:stretch>
        </p:blipFill>
        <p:spPr>
          <a:xfrm>
            <a:off x="5654421" y="1737360"/>
            <a:ext cx="5857875" cy="37433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2" name="Rectangle 11"/>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1783080"/>
            <a:ext cx="11045952" cy="3806952"/>
          </a:xfrm>
          <a:prstGeom prst="rect">
            <a:avLst/>
          </a:prstGeom>
        </p:spPr>
      </p:pic>
      <p:sp>
        <p:nvSpPr>
          <p:cNvPr id="13" name="Round Same Side Corner Rectangle 12"/>
          <p:cNvSpPr/>
          <p:nvPr/>
        </p:nvSpPr>
        <p:spPr>
          <a:xfrm>
            <a:off x="566928" y="1783080"/>
            <a:ext cx="11045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005840" y="4309872"/>
            <a:ext cx="10168128" cy="1097280"/>
          </a:xfrm>
          <a:prstGeom prst="rect">
            <a:avLst/>
          </a:prstGeom>
        </p:spPr>
      </p:pic>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SQL: Core Insight &amp; Modeling Readiness</a:t>
            </a:r>
          </a:p>
        </p:txBody>
      </p:sp>
      <p:sp>
        <p:nvSpPr>
          <p:cNvPr id="7" name="TextBox 6"/>
          <p:cNvSpPr txBox="1"/>
          <p:nvPr/>
        </p:nvSpPr>
        <p:spPr>
          <a:xfrm>
            <a:off x="1005840" y="1938528"/>
            <a:ext cx="10058400" cy="365760"/>
          </a:xfrm>
          <a:prstGeom prst="rect">
            <a:avLst/>
          </a:prstGeom>
          <a:noFill/>
        </p:spPr>
        <p:txBody>
          <a:bodyPr wrap="square" lIns="0" tIns="0" rIns="0" bIns="0" anchor="t">
            <a:spAutoFit/>
          </a:bodyPr>
          <a:lstStyle/>
          <a:p>
            <a:pPr algn="l">
              <a:lnSpc>
                <a:spcPct val="115000"/>
              </a:lnSpc>
            </a:pPr>
            <a:r>
              <a:rPr sz="1900" b="1" i="0" u="none">
                <a:solidFill>
                  <a:srgbClr val="FFFFFF"/>
                </a:solidFill>
                <a:latin typeface="Arial"/>
              </a:rPr>
              <a:t>The SQL Analytical Takeaway</a:t>
            </a:r>
          </a:p>
        </p:txBody>
      </p:sp>
      <p:sp>
        <p:nvSpPr>
          <p:cNvPr id="8" name="TextBox 7"/>
          <p:cNvSpPr txBox="1"/>
          <p:nvPr/>
        </p:nvSpPr>
        <p:spPr>
          <a:xfrm>
            <a:off x="1005840" y="2770632"/>
            <a:ext cx="10149840" cy="1402080"/>
          </a:xfrm>
          <a:prstGeom prst="rect">
            <a:avLst/>
          </a:prstGeom>
          <a:noFill/>
        </p:spPr>
        <p:txBody>
          <a:bodyPr wrap="square" lIns="0" tIns="0" rIns="0" bIns="0" anchor="t">
            <a:spAutoFit/>
          </a:bodyPr>
          <a:lstStyle/>
          <a:p>
            <a:pPr algn="l">
              <a:lnSpc>
                <a:spcPct val="150000"/>
              </a:lnSpc>
            </a:pPr>
            <a:r>
              <a:rPr sz="1600" b="0" i="0" u="none">
                <a:solidFill>
                  <a:srgbClr val="3E4C59"/>
                </a:solidFill>
                <a:latin typeface="Calibri"/>
              </a:rPr>
              <a:t>SQL work turned two inconsistent raw fact tables into one clean, validated dataset, complete with a fiscal calendar and engineered revenue and cost columns confirming a total portfolio profit margin of 41.1%. With this foundation in place, we moved to Power BI to make these numbers explorable in real time.</a:t>
            </a:r>
          </a:p>
        </p:txBody>
      </p:sp>
      <p:sp>
        <p:nvSpPr>
          <p:cNvPr id="9" name="TextBox 8"/>
          <p:cNvSpPr txBox="1"/>
          <p:nvPr/>
        </p:nvSpPr>
        <p:spPr>
          <a:xfrm>
            <a:off x="1389888" y="4657344"/>
            <a:ext cx="9418320" cy="457200"/>
          </a:xfrm>
          <a:prstGeom prst="rect">
            <a:avLst/>
          </a:prstGeom>
          <a:noFill/>
        </p:spPr>
        <p:txBody>
          <a:bodyPr wrap="square" lIns="0" tIns="0" rIns="0" bIns="0" anchor="t">
            <a:spAutoFit/>
          </a:bodyPr>
          <a:lstStyle/>
          <a:p>
            <a:pPr algn="l">
              <a:lnSpc>
                <a:spcPct val="135000"/>
              </a:lnSpc>
            </a:pPr>
            <a:r>
              <a:rPr sz="1400" b="0" i="0" u="none">
                <a:solidFill>
                  <a:srgbClr val="C2751A"/>
                </a:solidFill>
                <a:latin typeface="Calibri"/>
              </a:rPr>
              <a:t>Strategic Transition: Build an interactive Power BI dashboard so managers can slice revenue, cost, and profit by year, quarter, product, and region without writing SQL.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7" name="Rectangle 16"/>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1627632"/>
            <a:ext cx="4983480" cy="4543425"/>
          </a:xfrm>
          <a:prstGeom prst="rect">
            <a:avLst/>
          </a:prstGeom>
        </p:spPr>
      </p:pic>
      <p:sp>
        <p:nvSpPr>
          <p:cNvPr id="18" name="Round Same Side Corner Rectangle 17"/>
          <p:cNvSpPr/>
          <p:nvPr/>
        </p:nvSpPr>
        <p:spPr>
          <a:xfrm>
            <a:off x="566928" y="1627632"/>
            <a:ext cx="4983480" cy="237744"/>
          </a:xfrm>
          <a:prstGeom prst="round2SameRect">
            <a:avLst>
              <a:gd name="adj1" fmla="val 5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Power BI: Executive Dashboard &amp; KPI Monitoring</a:t>
            </a:r>
          </a:p>
        </p:txBody>
      </p:sp>
      <p:sp>
        <p:nvSpPr>
          <p:cNvPr id="7" name="TextBox 6"/>
          <p:cNvSpPr txBox="1"/>
          <p:nvPr/>
        </p:nvSpPr>
        <p:spPr>
          <a:xfrm>
            <a:off x="1298448" y="2176272"/>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Real-Time Tracking Canvas:</a:t>
            </a:r>
            <a:r>
              <a:rPr sz="1350" b="0" i="0" u="none">
                <a:solidFill>
                  <a:srgbClr val="3E4C59"/>
                </a:solidFill>
                <a:latin typeface="Calibri"/>
              </a:rPr>
              <a:t> Built an interactive executive dashboard with Total Sales, Total Production Cost, and Total Profit KPI cards, filterable by year and quarter.</a:t>
            </a:r>
          </a:p>
        </p:txBody>
      </p:sp>
      <p:sp>
        <p:nvSpPr>
          <p:cNvPr id="8" name="TextBox 7"/>
          <p:cNvSpPr txBox="1"/>
          <p:nvPr/>
        </p:nvSpPr>
        <p:spPr>
          <a:xfrm>
            <a:off x="1298448" y="3534156"/>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Seasonality &amp; Trend View:</a:t>
            </a:r>
            <a:r>
              <a:rPr sz="1350" b="0" i="0" u="none">
                <a:solidFill>
                  <a:srgbClr val="3E4C59"/>
                </a:solidFill>
                <a:latin typeface="Calibri"/>
              </a:rPr>
              <a:t> A monthly seasonality trend line and a year-over-year sales-vs-cost combo chart made revenue swings visible at a glance.</a:t>
            </a:r>
          </a:p>
        </p:txBody>
      </p:sp>
      <p:sp>
        <p:nvSpPr>
          <p:cNvPr id="9" name="TextBox 8"/>
          <p:cNvSpPr txBox="1"/>
          <p:nvPr/>
        </p:nvSpPr>
        <p:spPr>
          <a:xfrm>
            <a:off x="1298448" y="4892040"/>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Ranking Views:</a:t>
            </a:r>
            <a:r>
              <a:rPr sz="1350" b="0" i="0" u="none">
                <a:solidFill>
                  <a:srgbClr val="3E4C59"/>
                </a:solidFill>
                <a:latin typeface="Calibri"/>
              </a:rPr>
              <a:t> Top 5 Products and Geographic Revenue Split bar charts surfaced the biggest products and regions by net sales instantly.</a:t>
            </a:r>
          </a:p>
        </p:txBody>
      </p:sp>
      <p:pic>
        <p:nvPicPr>
          <p:cNvPr id="10" name="Picture 9" descr="image.png"/>
          <p:cNvPicPr>
            <a:picLocks noChangeAspect="1"/>
          </p:cNvPicPr>
          <p:nvPr/>
        </p:nvPicPr>
        <p:blipFill>
          <a:blip r:embed="rId3"/>
          <a:stretch>
            <a:fillRect/>
          </a:stretch>
        </p:blipFill>
        <p:spPr>
          <a:xfrm>
            <a:off x="932688" y="2221991"/>
            <a:ext cx="190500" cy="200025"/>
          </a:xfrm>
          <a:prstGeom prst="rect">
            <a:avLst/>
          </a:prstGeom>
        </p:spPr>
      </p:pic>
      <p:pic>
        <p:nvPicPr>
          <p:cNvPr id="11" name="Picture 10" descr="image.png"/>
          <p:cNvPicPr>
            <a:picLocks noChangeAspect="1"/>
          </p:cNvPicPr>
          <p:nvPr/>
        </p:nvPicPr>
        <p:blipFill>
          <a:blip r:embed="rId4"/>
          <a:stretch>
            <a:fillRect/>
          </a:stretch>
        </p:blipFill>
        <p:spPr>
          <a:xfrm>
            <a:off x="932688" y="3579875"/>
            <a:ext cx="171450" cy="200025"/>
          </a:xfrm>
          <a:prstGeom prst="rect">
            <a:avLst/>
          </a:prstGeom>
        </p:spPr>
      </p:pic>
      <p:pic>
        <p:nvPicPr>
          <p:cNvPr id="12" name="Picture 11" descr="image.png"/>
          <p:cNvPicPr>
            <a:picLocks noChangeAspect="1"/>
          </p:cNvPicPr>
          <p:nvPr/>
        </p:nvPicPr>
        <p:blipFill>
          <a:blip r:embed="rId5"/>
          <a:stretch>
            <a:fillRect/>
          </a:stretch>
        </p:blipFill>
        <p:spPr>
          <a:xfrm>
            <a:off x="932688" y="4937759"/>
            <a:ext cx="238125" cy="200025"/>
          </a:xfrm>
          <a:prstGeom prst="rect">
            <a:avLst/>
          </a:prstGeom>
        </p:spPr>
      </p:pic>
      <p:sp>
        <p:nvSpPr>
          <p:cNvPr id="19" name="Rounded Rectangle 18"/>
          <p:cNvSpPr/>
          <p:nvPr/>
        </p:nvSpPr>
        <p:spPr>
          <a:xfrm>
            <a:off x="5687568" y="1627631"/>
            <a:ext cx="5934456" cy="4227998"/>
          </a:xfrm>
          <a:prstGeom prst="roundRect">
            <a:avLst>
              <a:gd name="adj" fmla="val 35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a:extLst>
              <a:ext uri="{FF2B5EF4-FFF2-40B4-BE49-F238E27FC236}">
                <a16:creationId xmlns:a16="http://schemas.microsoft.com/office/drawing/2014/main" id="{E9F23EBB-7FD8-EF06-1282-ADF675D8B9CF}"/>
              </a:ext>
            </a:extLst>
          </p:cNvPr>
          <p:cNvPicPr>
            <a:picLocks noChangeAspect="1"/>
          </p:cNvPicPr>
          <p:nvPr/>
        </p:nvPicPr>
        <p:blipFill>
          <a:blip r:embed="rId6"/>
          <a:stretch>
            <a:fillRect/>
          </a:stretch>
        </p:blipFill>
        <p:spPr>
          <a:xfrm>
            <a:off x="5797296" y="1737360"/>
            <a:ext cx="5715000" cy="40085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3" name="Rectangle 12"/>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2853690"/>
            <a:ext cx="5330952" cy="3094736"/>
          </a:xfrm>
          <a:prstGeom prst="rect">
            <a:avLst/>
          </a:prstGeom>
        </p:spPr>
      </p:pic>
      <p:sp>
        <p:nvSpPr>
          <p:cNvPr id="14" name="Round Same Side Corner Rectangle 13"/>
          <p:cNvSpPr/>
          <p:nvPr/>
        </p:nvSpPr>
        <p:spPr>
          <a:xfrm>
            <a:off x="566928" y="2853690"/>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6291072" y="2853690"/>
            <a:ext cx="5330952" cy="3094736"/>
          </a:xfrm>
          <a:prstGeom prst="rect">
            <a:avLst/>
          </a:prstGeom>
        </p:spPr>
      </p:pic>
      <p:sp>
        <p:nvSpPr>
          <p:cNvPr id="15" name="Round Same Side Corner Rectangle 14"/>
          <p:cNvSpPr/>
          <p:nvPr/>
        </p:nvSpPr>
        <p:spPr>
          <a:xfrm>
            <a:off x="6291072" y="2853690"/>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Power BI: Core Operational Takeaways</a:t>
            </a:r>
          </a:p>
        </p:txBody>
      </p:sp>
      <p:sp>
        <p:nvSpPr>
          <p:cNvPr id="7" name="TextBox 6"/>
          <p:cNvSpPr txBox="1"/>
          <p:nvPr/>
        </p:nvSpPr>
        <p:spPr>
          <a:xfrm>
            <a:off x="969264" y="3027425"/>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Eliminating Reporting Latency</a:t>
            </a:r>
          </a:p>
        </p:txBody>
      </p:sp>
      <p:sp>
        <p:nvSpPr>
          <p:cNvPr id="8" name="TextBox 7"/>
          <p:cNvSpPr txBox="1"/>
          <p:nvPr/>
        </p:nvSpPr>
        <p:spPr>
          <a:xfrm>
            <a:off x="969264" y="3896106"/>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The dashboard replaced static pivot tables with live, slicer-driven views — year and quarter filters let managers reslice revenue, cost, and profit instantly instead of rebuilding pivots by hand.</a:t>
            </a:r>
          </a:p>
        </p:txBody>
      </p:sp>
      <p:sp>
        <p:nvSpPr>
          <p:cNvPr id="9" name="TextBox 8"/>
          <p:cNvSpPr txBox="1"/>
          <p:nvPr/>
        </p:nvSpPr>
        <p:spPr>
          <a:xfrm>
            <a:off x="6693408" y="3027425"/>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Ranking Visibility</a:t>
            </a:r>
          </a:p>
        </p:txBody>
      </p:sp>
      <p:sp>
        <p:nvSpPr>
          <p:cNvPr id="10" name="TextBox 9"/>
          <p:cNvSpPr txBox="1"/>
          <p:nvPr/>
        </p:nvSpPr>
        <p:spPr>
          <a:xfrm>
            <a:off x="6693408" y="3896106"/>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Dedicated Performance by Customer, Product, and Region pages let managers instantly identify top and bottom performers across all three dimensions.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7" name="Rectangle 16"/>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6638544" y="1627632"/>
            <a:ext cx="4983480" cy="4786884"/>
          </a:xfrm>
          <a:prstGeom prst="rect">
            <a:avLst/>
          </a:prstGeom>
        </p:spPr>
      </p:pic>
      <p:sp>
        <p:nvSpPr>
          <p:cNvPr id="18" name="Round Same Side Corner Rectangle 17"/>
          <p:cNvSpPr/>
          <p:nvPr/>
        </p:nvSpPr>
        <p:spPr>
          <a:xfrm>
            <a:off x="6638544" y="1627632"/>
            <a:ext cx="4983480" cy="237744"/>
          </a:xfrm>
          <a:prstGeom prst="round2SameRect">
            <a:avLst>
              <a:gd name="adj1" fmla="val 5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Tableau: Executive Sales Performance Dashboard</a:t>
            </a:r>
          </a:p>
        </p:txBody>
      </p:sp>
      <p:sp>
        <p:nvSpPr>
          <p:cNvPr id="7" name="TextBox 6"/>
          <p:cNvSpPr txBox="1"/>
          <p:nvPr/>
        </p:nvSpPr>
        <p:spPr>
          <a:xfrm>
            <a:off x="7370064" y="2176272"/>
            <a:ext cx="3886200" cy="502920"/>
          </a:xfrm>
          <a:prstGeom prst="rect">
            <a:avLst/>
          </a:prstGeom>
          <a:noFill/>
        </p:spPr>
        <p:txBody>
          <a:bodyPr wrap="square" lIns="0" tIns="0" rIns="0" bIns="0" anchor="t">
            <a:spAutoFit/>
          </a:bodyPr>
          <a:lstStyle/>
          <a:p>
            <a:pPr algn="l">
              <a:lnSpc>
                <a:spcPct val="142000"/>
              </a:lnSpc>
            </a:pPr>
            <a:r>
              <a:rPr sz="1350" b="1" i="0" u="none" dirty="0">
                <a:solidFill>
                  <a:srgbClr val="2C5D7C"/>
                </a:solidFill>
                <a:latin typeface="Calibri"/>
              </a:rPr>
              <a:t>Unified Executive View:</a:t>
            </a:r>
            <a:r>
              <a:rPr sz="1350" b="0" i="0" u="none" dirty="0">
                <a:solidFill>
                  <a:srgbClr val="3E4C59"/>
                </a:solidFill>
                <a:latin typeface="Calibri"/>
              </a:rPr>
              <a:t> Brought Top 5 Products, Top 5 Regions, and Year/Month/Quarter-wise sales into a single Sales Performance Dashboard for board-level review.</a:t>
            </a:r>
          </a:p>
        </p:txBody>
      </p:sp>
      <p:sp>
        <p:nvSpPr>
          <p:cNvPr id="8" name="TextBox 7"/>
          <p:cNvSpPr txBox="1"/>
          <p:nvPr/>
        </p:nvSpPr>
        <p:spPr>
          <a:xfrm>
            <a:off x="7370064" y="3534156"/>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Cost-to-Profit Visualization:</a:t>
            </a:r>
            <a:r>
              <a:rPr sz="1350" b="0" i="0" u="none">
                <a:solidFill>
                  <a:srgbClr val="3E4C59"/>
                </a:solidFill>
                <a:latin typeface="Calibri"/>
              </a:rPr>
              <a:t> A Sales Amount vs. Production Cost view let leadership see margin pressure alongside revenue growth in one frame.</a:t>
            </a:r>
          </a:p>
        </p:txBody>
      </p:sp>
      <p:sp>
        <p:nvSpPr>
          <p:cNvPr id="9" name="TextBox 8"/>
          <p:cNvSpPr txBox="1"/>
          <p:nvPr/>
        </p:nvSpPr>
        <p:spPr>
          <a:xfrm>
            <a:off x="7370064" y="4892040"/>
            <a:ext cx="3886200" cy="502920"/>
          </a:xfrm>
          <a:prstGeom prst="rect">
            <a:avLst/>
          </a:prstGeom>
          <a:noFill/>
        </p:spPr>
        <p:txBody>
          <a:bodyPr wrap="square" lIns="0" tIns="0" rIns="0" bIns="0" anchor="t">
            <a:spAutoFit/>
          </a:bodyPr>
          <a:lstStyle/>
          <a:p>
            <a:pPr algn="l">
              <a:lnSpc>
                <a:spcPct val="142000"/>
              </a:lnSpc>
            </a:pPr>
            <a:r>
              <a:rPr sz="1350" b="1" i="0" u="none">
                <a:solidFill>
                  <a:srgbClr val="2C5D7C"/>
                </a:solidFill>
                <a:latin typeface="Calibri"/>
              </a:rPr>
              <a:t>Executive Storytelling:</a:t>
            </a:r>
            <a:r>
              <a:rPr sz="1350" b="0" i="0" u="none">
                <a:solidFill>
                  <a:srgbClr val="3E4C59"/>
                </a:solidFill>
                <a:latin typeface="Calibri"/>
              </a:rPr>
              <a:t> Delivered a clean, filterable visual narrative packaging the same core KPIs as Excel and Power BI for non-technical stakeholders.</a:t>
            </a:r>
          </a:p>
        </p:txBody>
      </p:sp>
      <p:pic>
        <p:nvPicPr>
          <p:cNvPr id="10" name="Picture 9" descr="image.png"/>
          <p:cNvPicPr>
            <a:picLocks noChangeAspect="1"/>
          </p:cNvPicPr>
          <p:nvPr/>
        </p:nvPicPr>
        <p:blipFill>
          <a:blip r:embed="rId3"/>
          <a:stretch>
            <a:fillRect/>
          </a:stretch>
        </p:blipFill>
        <p:spPr>
          <a:xfrm>
            <a:off x="7004304" y="2221991"/>
            <a:ext cx="219075" cy="200025"/>
          </a:xfrm>
          <a:prstGeom prst="rect">
            <a:avLst/>
          </a:prstGeom>
        </p:spPr>
      </p:pic>
      <p:pic>
        <p:nvPicPr>
          <p:cNvPr id="11" name="Picture 10" descr="image.png"/>
          <p:cNvPicPr>
            <a:picLocks noChangeAspect="1"/>
          </p:cNvPicPr>
          <p:nvPr/>
        </p:nvPicPr>
        <p:blipFill>
          <a:blip r:embed="rId4"/>
          <a:stretch>
            <a:fillRect/>
          </a:stretch>
        </p:blipFill>
        <p:spPr>
          <a:xfrm>
            <a:off x="7004304" y="3579875"/>
            <a:ext cx="190500" cy="200025"/>
          </a:xfrm>
          <a:prstGeom prst="rect">
            <a:avLst/>
          </a:prstGeom>
        </p:spPr>
      </p:pic>
      <p:pic>
        <p:nvPicPr>
          <p:cNvPr id="12" name="Picture 11" descr="image.png"/>
          <p:cNvPicPr>
            <a:picLocks noChangeAspect="1"/>
          </p:cNvPicPr>
          <p:nvPr/>
        </p:nvPicPr>
        <p:blipFill>
          <a:blip r:embed="rId5"/>
          <a:stretch>
            <a:fillRect/>
          </a:stretch>
        </p:blipFill>
        <p:spPr>
          <a:xfrm>
            <a:off x="7004304" y="4937759"/>
            <a:ext cx="190500" cy="200025"/>
          </a:xfrm>
          <a:prstGeom prst="rect">
            <a:avLst/>
          </a:prstGeom>
        </p:spPr>
      </p:pic>
      <p:sp>
        <p:nvSpPr>
          <p:cNvPr id="19" name="Rounded Rectangle 18"/>
          <p:cNvSpPr/>
          <p:nvPr/>
        </p:nvSpPr>
        <p:spPr>
          <a:xfrm>
            <a:off x="566928" y="1627631"/>
            <a:ext cx="5778698" cy="4386722"/>
          </a:xfrm>
          <a:prstGeom prst="roundRect">
            <a:avLst>
              <a:gd name="adj" fmla="val 3500"/>
            </a:avLst>
          </a:prstGeom>
          <a:solidFill>
            <a:srgbClr val="FFFFFF"/>
          </a:solidFill>
          <a:ln w="12700">
            <a:solidFill>
              <a:srgbClr val="D9DF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a:extLst>
              <a:ext uri="{FF2B5EF4-FFF2-40B4-BE49-F238E27FC236}">
                <a16:creationId xmlns:a16="http://schemas.microsoft.com/office/drawing/2014/main" id="{209EF65C-C6A1-513F-EE7A-204473FE405E}"/>
              </a:ext>
            </a:extLst>
          </p:cNvPr>
          <p:cNvPicPr>
            <a:picLocks noChangeAspect="1"/>
          </p:cNvPicPr>
          <p:nvPr/>
        </p:nvPicPr>
        <p:blipFill>
          <a:blip r:embed="rId6"/>
          <a:stretch>
            <a:fillRect/>
          </a:stretch>
        </p:blipFill>
        <p:spPr>
          <a:xfrm>
            <a:off x="676656" y="1737360"/>
            <a:ext cx="5559242" cy="41672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3" name="Rectangle 12"/>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2727452"/>
            <a:ext cx="5330952" cy="3094736"/>
          </a:xfrm>
          <a:prstGeom prst="rect">
            <a:avLst/>
          </a:prstGeom>
        </p:spPr>
      </p:pic>
      <p:sp>
        <p:nvSpPr>
          <p:cNvPr id="14" name="Round Same Side Corner Rectangle 13"/>
          <p:cNvSpPr/>
          <p:nvPr/>
        </p:nvSpPr>
        <p:spPr>
          <a:xfrm>
            <a:off x="566928" y="2727452"/>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6291072" y="2727452"/>
            <a:ext cx="5330952" cy="3094736"/>
          </a:xfrm>
          <a:prstGeom prst="rect">
            <a:avLst/>
          </a:prstGeom>
        </p:spPr>
      </p:pic>
      <p:sp>
        <p:nvSpPr>
          <p:cNvPr id="15" name="Round Same Side Corner Rectangle 14"/>
          <p:cNvSpPr/>
          <p:nvPr/>
        </p:nvSpPr>
        <p:spPr>
          <a:xfrm>
            <a:off x="6291072" y="2727452"/>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Tableau: Product &amp; Regional Performance Deep-Dive</a:t>
            </a:r>
          </a:p>
        </p:txBody>
      </p:sp>
      <p:sp>
        <p:nvSpPr>
          <p:cNvPr id="7" name="TextBox 6"/>
          <p:cNvSpPr txBox="1"/>
          <p:nvPr/>
        </p:nvSpPr>
        <p:spPr>
          <a:xfrm>
            <a:off x="969264" y="2901188"/>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Top Product Concentration</a:t>
            </a:r>
          </a:p>
        </p:txBody>
      </p:sp>
      <p:sp>
        <p:nvSpPr>
          <p:cNvPr id="8" name="TextBox 7"/>
          <p:cNvSpPr txBox="1"/>
          <p:nvPr/>
        </p:nvSpPr>
        <p:spPr>
          <a:xfrm>
            <a:off x="969264" y="3769867"/>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The Top 5 Products view showed just 5 Mountain-200 SKUs generating $6.67M in revenue — nearly a quarter of the total — reinforcing the concentration risk flagged in the Excel phase.</a:t>
            </a:r>
          </a:p>
        </p:txBody>
      </p:sp>
      <p:sp>
        <p:nvSpPr>
          <p:cNvPr id="9" name="TextBox 8"/>
          <p:cNvSpPr txBox="1"/>
          <p:nvPr/>
        </p:nvSpPr>
        <p:spPr>
          <a:xfrm>
            <a:off x="6693408" y="2901188"/>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Regional Performance Ranking</a:t>
            </a:r>
          </a:p>
        </p:txBody>
      </p:sp>
      <p:sp>
        <p:nvSpPr>
          <p:cNvPr id="10" name="TextBox 9"/>
          <p:cNvSpPr txBox="1"/>
          <p:nvPr/>
        </p:nvSpPr>
        <p:spPr>
          <a:xfrm>
            <a:off x="6693408" y="3769867"/>
            <a:ext cx="4526280" cy="457200"/>
          </a:xfrm>
          <a:prstGeom prst="rect">
            <a:avLst/>
          </a:prstGeom>
          <a:noFill/>
        </p:spPr>
        <p:txBody>
          <a:bodyPr wrap="square" lIns="0" tIns="0" rIns="0" bIns="0" anchor="t">
            <a:spAutoFit/>
          </a:bodyPr>
          <a:lstStyle/>
          <a:p>
            <a:pPr algn="l">
              <a:lnSpc>
                <a:spcPct val="142000"/>
              </a:lnSpc>
            </a:pPr>
            <a:r>
              <a:rPr sz="1400" b="0" i="0" u="none">
                <a:solidFill>
                  <a:srgbClr val="3E4C59"/>
                </a:solidFill>
                <a:latin typeface="Calibri"/>
              </a:rPr>
              <a:t>The Region Sales Performance view let leadership compare revenue, cost, and margin side-by-side across all ten territories in one filterable canvas.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5F8"/>
        </a:solidFill>
        <a:effectLst/>
      </p:bgPr>
    </p:bg>
    <p:spTree>
      <p:nvGrpSpPr>
        <p:cNvPr id="1" name=""/>
        <p:cNvGrpSpPr/>
        <p:nvPr/>
      </p:nvGrpSpPr>
      <p:grpSpPr>
        <a:xfrm>
          <a:off x="0" y="0"/>
          <a:ext cx="0" cy="0"/>
          <a:chOff x="0" y="0"/>
          <a:chExt cx="0" cy="0"/>
        </a:xfrm>
      </p:grpSpPr>
      <p:sp>
        <p:nvSpPr>
          <p:cNvPr id="15" name="Rectangle 14"/>
          <p:cNvSpPr/>
          <p:nvPr/>
        </p:nvSpPr>
        <p:spPr>
          <a:xfrm>
            <a:off x="0" y="6748272"/>
            <a:ext cx="12191695" cy="10972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1207008"/>
            <a:ext cx="12191695" cy="50292"/>
          </a:xfrm>
          <a:prstGeom prst="rect">
            <a:avLst/>
          </a:prstGeom>
          <a:solidFill>
            <a:srgbClr val="C27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0"/>
            <a:ext cx="12191695" cy="1207008"/>
          </a:xfrm>
          <a:prstGeom prst="rect">
            <a:avLst/>
          </a:prstGeom>
          <a:solidFill>
            <a:srgbClr val="1C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566928" y="2211577"/>
            <a:ext cx="5330952" cy="4378960"/>
          </a:xfrm>
          <a:prstGeom prst="rect">
            <a:avLst/>
          </a:prstGeom>
        </p:spPr>
      </p:pic>
      <p:sp>
        <p:nvSpPr>
          <p:cNvPr id="16" name="Round Same Side Corner Rectangle 15"/>
          <p:cNvSpPr/>
          <p:nvPr/>
        </p:nvSpPr>
        <p:spPr>
          <a:xfrm>
            <a:off x="566928" y="2211577"/>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6291072" y="2211577"/>
            <a:ext cx="5330952" cy="4378960"/>
          </a:xfrm>
          <a:prstGeom prst="rect">
            <a:avLst/>
          </a:prstGeom>
        </p:spPr>
      </p:pic>
      <p:sp>
        <p:nvSpPr>
          <p:cNvPr id="17" name="Round Same Side Corner Rectangle 16"/>
          <p:cNvSpPr/>
          <p:nvPr/>
        </p:nvSpPr>
        <p:spPr>
          <a:xfrm>
            <a:off x="6291072" y="2211577"/>
            <a:ext cx="5330952" cy="603504"/>
          </a:xfrm>
          <a:prstGeom prst="round2SameRect">
            <a:avLst>
              <a:gd name="adj1" fmla="val 20000"/>
              <a:gd name="adj2" fmla="val 0"/>
            </a:avLst>
          </a:prstGeom>
          <a:solidFill>
            <a:srgbClr val="2C5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420624"/>
            <a:ext cx="9509760" cy="502920"/>
          </a:xfrm>
          <a:prstGeom prst="rect">
            <a:avLst/>
          </a:prstGeom>
          <a:noFill/>
        </p:spPr>
        <p:txBody>
          <a:bodyPr wrap="square" lIns="0" tIns="0" rIns="0" bIns="0" anchor="t">
            <a:spAutoFit/>
          </a:bodyPr>
          <a:lstStyle/>
          <a:p>
            <a:pPr algn="l">
              <a:lnSpc>
                <a:spcPct val="110000"/>
              </a:lnSpc>
            </a:pPr>
            <a:r>
              <a:rPr sz="2500" b="1" i="0" u="none">
                <a:solidFill>
                  <a:srgbClr val="FFFFFF"/>
                </a:solidFill>
                <a:latin typeface="Arial"/>
              </a:rPr>
              <a:t>Conclusion &amp; Strategic Roadmap</a:t>
            </a:r>
          </a:p>
        </p:txBody>
      </p:sp>
      <p:sp>
        <p:nvSpPr>
          <p:cNvPr id="7" name="TextBox 6"/>
          <p:cNvSpPr txBox="1"/>
          <p:nvPr/>
        </p:nvSpPr>
        <p:spPr>
          <a:xfrm>
            <a:off x="969264" y="2385313"/>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Integrated Stack Synthesis</a:t>
            </a:r>
          </a:p>
        </p:txBody>
      </p:sp>
      <p:sp>
        <p:nvSpPr>
          <p:cNvPr id="8" name="TextBox 7"/>
          <p:cNvSpPr txBox="1"/>
          <p:nvPr/>
        </p:nvSpPr>
        <p:spPr>
          <a:xfrm>
            <a:off x="969264" y="3253993"/>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1. End-to-End Value:</a:t>
            </a:r>
            <a:r>
              <a:rPr sz="1400" b="0" i="0" u="none">
                <a:solidFill>
                  <a:srgbClr val="3E4C59"/>
                </a:solidFill>
                <a:latin typeface="Calibri"/>
              </a:rPr>
              <a:t> Combining Excel exploration, SQL data engineering, Power BI monitoring, and Tableau storytelling delivered one consistent, validated view of revenue, cost, and profit.</a:t>
            </a:r>
          </a:p>
        </p:txBody>
      </p:sp>
      <p:sp>
        <p:nvSpPr>
          <p:cNvPr id="9" name="TextBox 8"/>
          <p:cNvSpPr txBox="1"/>
          <p:nvPr/>
        </p:nvSpPr>
        <p:spPr>
          <a:xfrm>
            <a:off x="969264" y="4538217"/>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2. Consistent Numbers Throughout:</a:t>
            </a:r>
            <a:r>
              <a:rPr sz="1400" b="0" i="0" u="none">
                <a:solidFill>
                  <a:srgbClr val="3E4C59"/>
                </a:solidFill>
                <a:latin typeface="Calibri"/>
              </a:rPr>
              <a:t> The same revenue, cost, and profit figures, validated in SQL, hold across every downstream tool — proving the pipeline, not just the dashboards.</a:t>
            </a:r>
          </a:p>
        </p:txBody>
      </p:sp>
      <p:sp>
        <p:nvSpPr>
          <p:cNvPr id="10" name="TextBox 9"/>
          <p:cNvSpPr txBox="1"/>
          <p:nvPr/>
        </p:nvSpPr>
        <p:spPr>
          <a:xfrm>
            <a:off x="6693408" y="2385313"/>
            <a:ext cx="4526280" cy="310896"/>
          </a:xfrm>
          <a:prstGeom prst="rect">
            <a:avLst/>
          </a:prstGeom>
          <a:noFill/>
        </p:spPr>
        <p:txBody>
          <a:bodyPr wrap="square" lIns="0" tIns="0" rIns="0" bIns="0" anchor="t">
            <a:spAutoFit/>
          </a:bodyPr>
          <a:lstStyle/>
          <a:p>
            <a:pPr algn="l">
              <a:lnSpc>
                <a:spcPct val="115000"/>
              </a:lnSpc>
            </a:pPr>
            <a:r>
              <a:rPr sz="1700" b="1" i="0" u="none">
                <a:solidFill>
                  <a:srgbClr val="FFFFFF"/>
                </a:solidFill>
                <a:latin typeface="Arial"/>
              </a:rPr>
              <a:t>Strategic Recommendations</a:t>
            </a:r>
          </a:p>
        </p:txBody>
      </p:sp>
      <p:sp>
        <p:nvSpPr>
          <p:cNvPr id="11" name="TextBox 10"/>
          <p:cNvSpPr txBox="1"/>
          <p:nvPr/>
        </p:nvSpPr>
        <p:spPr>
          <a:xfrm>
            <a:off x="6693408" y="3253993"/>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1. Category Rebalancing:</a:t>
            </a:r>
            <a:r>
              <a:rPr sz="1400" b="0" i="0" u="none">
                <a:solidFill>
                  <a:srgbClr val="3E4C59"/>
                </a:solidFill>
                <a:latin typeface="Calibri"/>
              </a:rPr>
              <a:t> With Bikes at 96.5% of revenue from only 25% of order lines, examine whether Accessories and Clothing are under-priced or under-marketed relative to their order volume.</a:t>
            </a:r>
          </a:p>
        </p:txBody>
      </p:sp>
      <p:sp>
        <p:nvSpPr>
          <p:cNvPr id="12" name="TextBox 11"/>
          <p:cNvSpPr txBox="1"/>
          <p:nvPr/>
        </p:nvSpPr>
        <p:spPr>
          <a:xfrm>
            <a:off x="6693408" y="4538217"/>
            <a:ext cx="4526280" cy="457200"/>
          </a:xfrm>
          <a:prstGeom prst="rect">
            <a:avLst/>
          </a:prstGeom>
          <a:noFill/>
        </p:spPr>
        <p:txBody>
          <a:bodyPr wrap="square" lIns="0" tIns="0" rIns="0" bIns="0" anchor="t">
            <a:spAutoFit/>
          </a:bodyPr>
          <a:lstStyle/>
          <a:p>
            <a:pPr algn="l">
              <a:lnSpc>
                <a:spcPct val="142000"/>
              </a:lnSpc>
            </a:pPr>
            <a:r>
              <a:rPr sz="1400" b="1" i="0" u="none">
                <a:solidFill>
                  <a:srgbClr val="2C5D7C"/>
                </a:solidFill>
                <a:latin typeface="Calibri"/>
              </a:rPr>
              <a:t>2. Regional Margin Review:</a:t>
            </a:r>
            <a:r>
              <a:rPr sz="1400" b="0" i="0" u="none">
                <a:solidFill>
                  <a:srgbClr val="3E4C59"/>
                </a:solidFill>
                <a:latin typeface="Calibri"/>
              </a:rPr>
              <a:t> Audit product mix in Australia and Southwest, the highest-revenue, lowest-margin regions, since freight costs alone don't explain the gap.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eo 2026-09-16 at 9.10.06 PM">
            <a:hlinkClick r:id="" action="ppaction://media"/>
            <a:extLst>
              <a:ext uri="{FF2B5EF4-FFF2-40B4-BE49-F238E27FC236}">
                <a16:creationId xmlns:a16="http://schemas.microsoft.com/office/drawing/2014/main" id="{92D201C5-8295-1C10-F073-3366C3667B0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 y="0"/>
            <a:ext cx="12192001" cy="6858000"/>
          </a:xfrm>
          <a:prstGeom prst="roundRect">
            <a:avLst/>
          </a:prstGeom>
        </p:spPr>
      </p:pic>
    </p:spTree>
    <p:extLst>
      <p:ext uri="{BB962C8B-B14F-4D97-AF65-F5344CB8AC3E}">
        <p14:creationId xmlns:p14="http://schemas.microsoft.com/office/powerpoint/2010/main" val="20190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2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89</TotalTime>
  <Words>814</Words>
  <Application>Microsoft Office PowerPoint</Application>
  <PresentationFormat>Widescreen</PresentationFormat>
  <Paragraphs>58</Paragraphs>
  <Slides>13</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Neue Haas Grotesk Text Pro</vt:lpstr>
      <vt:lpstr>Film Burn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E</dc:creator>
  <cp:keywords/>
  <dc:description>generated using python-pptx</dc:description>
  <cp:lastModifiedBy>Mohan E</cp:lastModifiedBy>
  <cp:revision>2</cp:revision>
  <dcterms:created xsi:type="dcterms:W3CDTF">2013-01-27T09:14:16Z</dcterms:created>
  <dcterms:modified xsi:type="dcterms:W3CDTF">2026-09-17T04:42:50Z</dcterms:modified>
  <cp:category/>
</cp:coreProperties>
</file>